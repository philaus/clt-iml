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3828-29E3-513A-9512-7B5FE1509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93941F3-D902-B217-606C-977E357F43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429DC1-9DE8-1BCB-99CA-4294A56AB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B5E07-3339-4C66-A934-8B85F0121AC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D02395-A8DC-E63B-A465-9D3515782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7FEE1E-B4C3-D391-BFF9-BA3E383D1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93CAB-2B27-4250-A98E-F66CF35111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696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7D85D7-2081-3723-3674-91C36A3B5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14CDEA-034D-5AFD-94DB-EB09F07E8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13ABB7-6B6B-8BAE-DB77-1F84EF4B1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B5E07-3339-4C66-A934-8B85F0121AC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5A45F7-4DBB-5633-E997-42D167667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AF6BC1-86E8-D9EC-48A6-A2F7305DE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93CAB-2B27-4250-A98E-F66CF35111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8256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58A3B9-7C88-29EC-DF21-0CAAD22A1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F8291D-F0B2-0FB5-FCF4-BA40A2598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2DA1AA-60D0-E7F6-3EFA-486E96E5E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B5E07-3339-4C66-A934-8B85F0121AC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FEE7B5-322F-5B06-9154-AF0E7E23F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32CC52-BEE4-AC35-E837-F189A7381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93CAB-2B27-4250-A98E-F66CF35111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201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983B3A-1E87-92BA-E021-F7DA47104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BF13D1-A50E-DB39-9738-EE1F03806F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BF9F8A-EA62-B3D0-0DCF-9BA006C97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5A0FB6-7E74-67F7-3952-9124BAE0C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B5E07-3339-4C66-A934-8B85F0121AC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3CC8C9-BBBF-9E32-4048-FF4A1AF84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201A7F-2F78-533D-3AC8-A4EDC99CA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93CAB-2B27-4250-A98E-F66CF35111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4646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18C769-19F7-85D0-3296-89520B802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507243-2BD8-7A40-5C40-39ABFDBFC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FD3C55-AE23-D832-3725-A5C29C6D25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03A9A52-D3F9-DF96-F8C8-9F779920DE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F0AD5D-149F-AC22-174B-683854E357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3EF6E4-2DBF-A09E-DD30-F3FAFE52F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B5E07-3339-4C66-A934-8B85F0121AC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853FEA-7EEE-E0E6-8B06-6D7AC2110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724F6D4-5452-147B-C724-463A9780E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93CAB-2B27-4250-A98E-F66CF35111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7688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AA6E79-4904-96C5-FD02-5AC80DF34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DEDC676-4010-7D12-1C01-26C4B1BC4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B5E07-3339-4C66-A934-8B85F0121AC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F6E1EAA-24BD-CDD3-D195-A47CC46FA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4866DD5-8733-23D5-29B6-82B8AE35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93CAB-2B27-4250-A98E-F66CF35111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3078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F0BAA43-3E71-001F-0160-67CD24B5F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B5E07-3339-4C66-A934-8B85F0121AC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8F809F9-4495-25A5-AF0F-B4AF0B998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F284CD-661E-9FB6-CF26-14D1B7CFD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93CAB-2B27-4250-A98E-F66CF35111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469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24E89F-D442-1335-AE02-093A7AA7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B85CD9-4A04-AE28-E385-5A5E1C845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AA2AD2-BA93-6986-6D14-FB87E6B545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6EFF73-8877-F32B-113D-71D62CD1F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B5E07-3339-4C66-A934-8B85F0121AC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C4A4F6-B2C5-1DBC-122B-C569A5F8F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B8A6A7-B44A-3223-470B-2C851ADF8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93CAB-2B27-4250-A98E-F66CF35111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651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C74282-1020-8837-34A4-0DA2D56AC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70DE81A-4A50-D349-8E70-800472D03C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021577-202C-12A6-548B-AEE7C337C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EF0CE1-0E60-021C-B451-B8908AA3A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B5E07-3339-4C66-A934-8B85F0121AC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7A4B92-3D76-0215-0389-838015717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8B1F19-AA74-3779-F464-7C8F56490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93CAB-2B27-4250-A98E-F66CF35111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2911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410352-7DE8-9D30-5C78-C3724C38E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938630-A5DD-1E70-A29C-1801BCC38F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CB7452-0C7F-268E-5A54-EE63681FD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B5E07-3339-4C66-A934-8B85F0121AC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A47E6C-FA1E-96CF-9938-3B64FE3F0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2A64D2-8322-8C55-E698-DFE29FB8A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93CAB-2B27-4250-A98E-F66CF35111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817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78B836E-CD18-DEA0-1542-8AC7D0A8B8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B9A9D0E-6D1D-CC8C-179F-B129C4309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F5EE58-493E-8041-BB58-4C8B0691B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B5E07-3339-4C66-A934-8B85F0121AC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FEC534-67FF-36A9-B0A0-A45247B81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55B247-0684-DF44-4651-636298DC7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93CAB-2B27-4250-A98E-F66CF35111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0294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8556BF4-175A-EBAD-D18F-A2E3A5DD2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1A1FA0-1860-E869-00B2-73E1E8DAD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2CE034-ED41-C96A-4420-76D24B9BEB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AB5E07-3339-4C66-A934-8B85F0121AC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5C8EE4-C50B-0611-2F7A-216DDB855A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4E758D-E7EB-6D0A-EB5B-27EF334F68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893CAB-2B27-4250-A98E-F66CF35111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85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2190CBD0-1B6A-E686-8766-7C06F756D8D2}"/>
              </a:ext>
            </a:extLst>
          </p:cNvPr>
          <p:cNvSpPr/>
          <p:nvPr/>
        </p:nvSpPr>
        <p:spPr>
          <a:xfrm>
            <a:off x="1955969" y="1162680"/>
            <a:ext cx="2289028" cy="64795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500" b="1" kern="1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20603050405020304" pitchFamily="18" charset="0"/>
                <a:ea typeface="宋体" panose="02010600030101010101" pitchFamily="2" charset="-122"/>
              </a:rPr>
              <a:t>q_profile_design.m</a:t>
            </a:r>
            <a:endParaRPr lang="zh-CN" altLang="en-US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箭头: 下 5">
            <a:extLst>
              <a:ext uri="{FF2B5EF4-FFF2-40B4-BE49-F238E27FC236}">
                <a16:creationId xmlns:a16="http://schemas.microsoft.com/office/drawing/2014/main" id="{78378B0F-90DF-767A-277F-C8E138E579B9}"/>
              </a:ext>
            </a:extLst>
          </p:cNvPr>
          <p:cNvSpPr/>
          <p:nvPr/>
        </p:nvSpPr>
        <p:spPr>
          <a:xfrm>
            <a:off x="2025607" y="660064"/>
            <a:ext cx="405727" cy="502616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69735D4-16DD-1406-88FD-4642E2723D35}"/>
              </a:ext>
            </a:extLst>
          </p:cNvPr>
          <p:cNvSpPr txBox="1"/>
          <p:nvPr/>
        </p:nvSpPr>
        <p:spPr>
          <a:xfrm>
            <a:off x="1789439" y="290732"/>
            <a:ext cx="2622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300">
                <a:latin typeface="Arial"/>
              </a:rPr>
              <a:t>Input target equilibrium parameters</a:t>
            </a:r>
          </a:p>
        </p:txBody>
      </p:sp>
      <p:sp>
        <p:nvSpPr>
          <p:cNvPr id="8" name="箭头: 下 7">
            <a:extLst>
              <a:ext uri="{FF2B5EF4-FFF2-40B4-BE49-F238E27FC236}">
                <a16:creationId xmlns:a16="http://schemas.microsoft.com/office/drawing/2014/main" id="{78C3C805-300F-4328-05BE-7F1E97408819}"/>
              </a:ext>
            </a:extLst>
          </p:cNvPr>
          <p:cNvSpPr/>
          <p:nvPr/>
        </p:nvSpPr>
        <p:spPr>
          <a:xfrm>
            <a:off x="2025607" y="1847703"/>
            <a:ext cx="405727" cy="502616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29DEFEF-F19F-8049-35E5-B3191429EB6A}"/>
              </a:ext>
            </a:extLst>
          </p:cNvPr>
          <p:cNvSpPr txBox="1"/>
          <p:nvPr/>
        </p:nvSpPr>
        <p:spPr>
          <a:xfrm>
            <a:off x="2596855" y="1965541"/>
            <a:ext cx="3296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300">
                <a:latin typeface="Arial"/>
              </a:rPr>
              <a:t>Grid search for the best-fit function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6687815-79C3-854C-BFA5-0D1B09F6165D}"/>
              </a:ext>
            </a:extLst>
          </p:cNvPr>
          <p:cNvSpPr txBox="1"/>
          <p:nvPr/>
        </p:nvSpPr>
        <p:spPr>
          <a:xfrm>
            <a:off x="1816688" y="2395429"/>
            <a:ext cx="2622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300">
                <a:latin typeface="Arial"/>
              </a:rPr>
              <a:t>Save CSV parameter tables</a:t>
            </a:r>
          </a:p>
        </p:txBody>
      </p:sp>
      <p:sp>
        <p:nvSpPr>
          <p:cNvPr id="12" name="箭头: 下 11">
            <a:extLst>
              <a:ext uri="{FF2B5EF4-FFF2-40B4-BE49-F238E27FC236}">
                <a16:creationId xmlns:a16="http://schemas.microsoft.com/office/drawing/2014/main" id="{466A1257-1F50-C378-9CF7-39ACDA52D7BB}"/>
              </a:ext>
            </a:extLst>
          </p:cNvPr>
          <p:cNvSpPr/>
          <p:nvPr/>
        </p:nvSpPr>
        <p:spPr>
          <a:xfrm>
            <a:off x="2025608" y="2821831"/>
            <a:ext cx="405727" cy="502616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0036828-FAB9-04D1-D1F8-0E4BA86063CB}"/>
              </a:ext>
            </a:extLst>
          </p:cNvPr>
          <p:cNvSpPr/>
          <p:nvPr/>
        </p:nvSpPr>
        <p:spPr>
          <a:xfrm>
            <a:off x="1955967" y="3324447"/>
            <a:ext cx="2289028" cy="64795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50000"/>
              </a:lnSpc>
            </a:pPr>
            <a:r>
              <a:rPr lang="en-US" altLang="zh-CN" b="1" kern="100" dirty="0" sz="15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20603050405020304" pitchFamily="18" charset="0"/>
                <a:ea typeface="宋体" panose="02010600030101010101" pitchFamily="2" charset="-122"/>
              </a:rPr>
              <a:t>generate_ineq.py</a:t>
            </a:r>
            <a:endParaRPr lang="zh-CN" altLang="zh-CN" b="1" kern="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65F21F0-82C4-924B-DC50-BFD5B51AE572}"/>
              </a:ext>
            </a:extLst>
          </p:cNvPr>
          <p:cNvSpPr txBox="1"/>
          <p:nvPr/>
        </p:nvSpPr>
        <p:spPr>
          <a:xfrm>
            <a:off x="2431335" y="2853735"/>
            <a:ext cx="3400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300">
                <a:latin typeface="Arial"/>
              </a:rPr>
              <a:t>Process all CSVs in the folder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A696EA7-F804-75F6-6CE7-FB6CAE044BE9}"/>
              </a:ext>
            </a:extLst>
          </p:cNvPr>
          <p:cNvSpPr txBox="1"/>
          <p:nvPr/>
        </p:nvSpPr>
        <p:spPr>
          <a:xfrm>
            <a:off x="747869" y="4475016"/>
            <a:ext cx="4705224" cy="1296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050">
                <a:latin typeface="Arial"/>
              </a:rPr>
              <a:t>Read inputs and create named workspaces</a:t>
            </a:r>
          </a:p>
          <a:p>
            <a:pPr/>
            <a:r>
              <a:rPr sz="1050">
                <a:latin typeface="Arial"/>
              </a:rPr>
              <a:t>Write all required files</a:t>
            </a:r>
          </a:p>
          <a:p>
            <a:pPr/>
            <a:r>
              <a:rPr sz="1050">
                <a:latin typeface="Arial"/>
              </a:rPr>
              <a:t>Prepare equilibrium solving and runs</a:t>
            </a:r>
          </a:p>
        </p:txBody>
      </p:sp>
      <p:sp>
        <p:nvSpPr>
          <p:cNvPr id="18" name="箭头: 下 17">
            <a:extLst>
              <a:ext uri="{FF2B5EF4-FFF2-40B4-BE49-F238E27FC236}">
                <a16:creationId xmlns:a16="http://schemas.microsoft.com/office/drawing/2014/main" id="{8E4B0074-AE19-F2D6-5013-9801241DEF2F}"/>
              </a:ext>
            </a:extLst>
          </p:cNvPr>
          <p:cNvSpPr/>
          <p:nvPr/>
        </p:nvSpPr>
        <p:spPr>
          <a:xfrm>
            <a:off x="2867339" y="4029470"/>
            <a:ext cx="405727" cy="502616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箭头: 下 18">
            <a:extLst>
              <a:ext uri="{FF2B5EF4-FFF2-40B4-BE49-F238E27FC236}">
                <a16:creationId xmlns:a16="http://schemas.microsoft.com/office/drawing/2014/main" id="{0FFD748A-6562-BECB-F353-84C249379301}"/>
              </a:ext>
            </a:extLst>
          </p:cNvPr>
          <p:cNvSpPr/>
          <p:nvPr/>
        </p:nvSpPr>
        <p:spPr>
          <a:xfrm rot="16200000">
            <a:off x="5993561" y="4423371"/>
            <a:ext cx="405727" cy="1486660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8302B2D-757F-E3D5-83EF-26CE1596745D}"/>
              </a:ext>
            </a:extLst>
          </p:cNvPr>
          <p:cNvSpPr/>
          <p:nvPr/>
        </p:nvSpPr>
        <p:spPr>
          <a:xfrm>
            <a:off x="7525129" y="1261648"/>
            <a:ext cx="2289028" cy="64795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lnSpc>
                <a:spcPct val="150000"/>
              </a:lnSpc>
            </a:pPr>
            <a:r>
              <a:rPr lang="en-US" altLang="zh-CN" b="1" kern="100" dirty="0" sz="15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20603050405020304" pitchFamily="18" charset="0"/>
                <a:ea typeface="宋体" panose="02010600030101010101" pitchFamily="2" charset="-122"/>
              </a:rPr>
              <a:t>run.sh</a:t>
            </a:r>
            <a:endParaRPr lang="zh-CN" altLang="zh-CN" b="1" kern="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86A0F3B-8D24-0CA6-A5A0-901B217E57D9}"/>
              </a:ext>
            </a:extLst>
          </p:cNvPr>
          <p:cNvSpPr/>
          <p:nvPr/>
        </p:nvSpPr>
        <p:spPr>
          <a:xfrm>
            <a:off x="7483274" y="4831042"/>
            <a:ext cx="2289028" cy="64795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lnSpc>
                <a:spcPct val="150000"/>
              </a:lnSpc>
            </a:pPr>
            <a:r>
              <a:rPr lang="en-US" altLang="zh-CN" b="1" kern="100" dirty="0" sz="15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20603050405020304" pitchFamily="18" charset="0"/>
                <a:ea typeface="宋体" panose="02010600030101010101" pitchFamily="2" charset="-122"/>
              </a:rPr>
              <a:t>equilibrium.sh</a:t>
            </a:r>
            <a:endParaRPr lang="zh-CN" altLang="zh-CN" b="1" kern="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EDB8B28-7D23-05EE-8AB2-87C94832ACD2}"/>
              </a:ext>
            </a:extLst>
          </p:cNvPr>
          <p:cNvSpPr txBox="1"/>
          <p:nvPr/>
        </p:nvSpPr>
        <p:spPr>
          <a:xfrm>
            <a:off x="5213140" y="5494899"/>
            <a:ext cx="1966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300">
                <a:latin typeface="Arial"/>
              </a:rPr>
              <a:t>Linux VM with NOVA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BCD9BAB-1116-7919-E5CE-378A4D02102C}"/>
              </a:ext>
            </a:extLst>
          </p:cNvPr>
          <p:cNvSpPr txBox="1"/>
          <p:nvPr/>
        </p:nvSpPr>
        <p:spPr>
          <a:xfrm>
            <a:off x="5213140" y="4277688"/>
            <a:ext cx="19665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500" b="1" dirty="0" err="1">
                <a:latin typeface="Arial"/>
              </a:rPr>
              <a:t>inequ</a:t>
            </a:r>
            <a:endParaRPr lang="en-US" altLang="zh-CN" sz="2000" b="1" dirty="0"/>
          </a:p>
          <a:p>
            <a:pPr algn="ctr"/>
            <a:r>
              <a:rPr lang="en-US" altLang="zh-CN" sz="1500" b="1" dirty="0" err="1">
                <a:latin typeface="Arial"/>
              </a:rPr>
              <a:t>eq_transp.F</a:t>
            </a:r>
            <a:endParaRPr lang="zh-CN" altLang="en-US" sz="2000" b="1" dirty="0"/>
          </a:p>
        </p:txBody>
      </p:sp>
      <p:sp>
        <p:nvSpPr>
          <p:cNvPr id="24" name="箭头: 下 23">
            <a:extLst>
              <a:ext uri="{FF2B5EF4-FFF2-40B4-BE49-F238E27FC236}">
                <a16:creationId xmlns:a16="http://schemas.microsoft.com/office/drawing/2014/main" id="{E4D24E13-87F1-672E-F5E0-63C8E1F8D9EC}"/>
              </a:ext>
            </a:extLst>
          </p:cNvPr>
          <p:cNvSpPr/>
          <p:nvPr/>
        </p:nvSpPr>
        <p:spPr>
          <a:xfrm rot="10800000">
            <a:off x="7634130" y="4231878"/>
            <a:ext cx="405727" cy="502616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816BEB2-21F8-37B7-DECD-DA2FFBC7EE32}"/>
              </a:ext>
            </a:extLst>
          </p:cNvPr>
          <p:cNvSpPr txBox="1"/>
          <p:nvPr/>
        </p:nvSpPr>
        <p:spPr>
          <a:xfrm>
            <a:off x="7335008" y="4339316"/>
            <a:ext cx="3400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300">
                <a:latin typeface="Arial"/>
              </a:rPr>
              <a:t>Run equilibrium solving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83E3FEE-2785-178E-4594-5B7C6CE631F1}"/>
              </a:ext>
            </a:extLst>
          </p:cNvPr>
          <p:cNvSpPr txBox="1"/>
          <p:nvPr/>
        </p:nvSpPr>
        <p:spPr>
          <a:xfrm>
            <a:off x="7030937" y="3818209"/>
            <a:ext cx="3400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300">
                <a:latin typeface="Arial"/>
              </a:rPr>
              <a:t>CLT equilibrium data files</a:t>
            </a:r>
          </a:p>
        </p:txBody>
      </p:sp>
      <p:sp>
        <p:nvSpPr>
          <p:cNvPr id="27" name="箭头: 下 26">
            <a:extLst>
              <a:ext uri="{FF2B5EF4-FFF2-40B4-BE49-F238E27FC236}">
                <a16:creationId xmlns:a16="http://schemas.microsoft.com/office/drawing/2014/main" id="{5650DCB8-AD8F-FA15-07C6-675F86695240}"/>
              </a:ext>
            </a:extLst>
          </p:cNvPr>
          <p:cNvSpPr/>
          <p:nvPr/>
        </p:nvSpPr>
        <p:spPr>
          <a:xfrm rot="10800000">
            <a:off x="7566504" y="2014811"/>
            <a:ext cx="405727" cy="1668556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DD4989E-975E-3D77-3F43-FD3CDE4B10C8}"/>
              </a:ext>
            </a:extLst>
          </p:cNvPr>
          <p:cNvSpPr txBox="1"/>
          <p:nvPr/>
        </p:nvSpPr>
        <p:spPr>
          <a:xfrm>
            <a:off x="7895026" y="2081454"/>
            <a:ext cx="3400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300">
                <a:latin typeface="Arial"/>
              </a:rPr>
              <a:t>Linux GPU server cluster</a:t>
            </a:r>
          </a:p>
        </p:txBody>
      </p:sp>
      <p:sp>
        <p:nvSpPr>
          <p:cNvPr id="29" name="箭头: 下 28">
            <a:extLst>
              <a:ext uri="{FF2B5EF4-FFF2-40B4-BE49-F238E27FC236}">
                <a16:creationId xmlns:a16="http://schemas.microsoft.com/office/drawing/2014/main" id="{D0D0EC79-27FA-6A18-56E4-4E09A35A7922}"/>
              </a:ext>
            </a:extLst>
          </p:cNvPr>
          <p:cNvSpPr/>
          <p:nvPr/>
        </p:nvSpPr>
        <p:spPr>
          <a:xfrm rot="13341649">
            <a:off x="6086526" y="1469957"/>
            <a:ext cx="405727" cy="3650701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31200E0-9A19-F3CA-82AC-14B11528E1A2}"/>
              </a:ext>
            </a:extLst>
          </p:cNvPr>
          <p:cNvSpPr txBox="1"/>
          <p:nvPr/>
        </p:nvSpPr>
        <p:spPr>
          <a:xfrm>
            <a:off x="5089879" y="3451063"/>
            <a:ext cx="2058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300">
                <a:latin typeface="Arial"/>
              </a:rPr>
              <a:t>Tuned CLT computation and diagnostics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6B6EB2A-FA5A-C2F5-5D2C-EDFBE9826C8C}"/>
              </a:ext>
            </a:extLst>
          </p:cNvPr>
          <p:cNvSpPr txBox="1"/>
          <p:nvPr/>
        </p:nvSpPr>
        <p:spPr>
          <a:xfrm>
            <a:off x="3982333" y="769737"/>
            <a:ext cx="1470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300">
                <a:latin typeface="Arial"/>
              </a:rPr>
              <a:t>Windows PC</a:t>
            </a:r>
          </a:p>
        </p:txBody>
      </p:sp>
      <p:sp>
        <p:nvSpPr>
          <p:cNvPr id="33" name="箭头: 下 32">
            <a:extLst>
              <a:ext uri="{FF2B5EF4-FFF2-40B4-BE49-F238E27FC236}">
                <a16:creationId xmlns:a16="http://schemas.microsoft.com/office/drawing/2014/main" id="{B08E56EF-4844-1CA8-4A85-98CF4B5BAE9F}"/>
              </a:ext>
            </a:extLst>
          </p:cNvPr>
          <p:cNvSpPr/>
          <p:nvPr/>
        </p:nvSpPr>
        <p:spPr>
          <a:xfrm rot="10800000">
            <a:off x="7665920" y="663683"/>
            <a:ext cx="405727" cy="502616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3F88330-2603-4718-AECD-FED5C752BAA5}"/>
              </a:ext>
            </a:extLst>
          </p:cNvPr>
          <p:cNvSpPr txBox="1"/>
          <p:nvPr/>
        </p:nvSpPr>
        <p:spPr>
          <a:xfrm>
            <a:off x="7884427" y="754850"/>
            <a:ext cx="3400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300">
                <a:latin typeface="Arial"/>
              </a:rPr>
              <a:t>Batch compile, run, and diagnose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5189D23-605C-E0CF-96CF-1B5C18B465E2}"/>
              </a:ext>
            </a:extLst>
          </p:cNvPr>
          <p:cNvSpPr txBox="1"/>
          <p:nvPr/>
        </p:nvSpPr>
        <p:spPr>
          <a:xfrm>
            <a:off x="7030080" y="330554"/>
            <a:ext cx="3400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300">
                <a:latin typeface="Arial"/>
              </a:rPr>
              <a:t>Raw simulation data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B915E1C8-9B30-FB04-8F55-808BEAF4BB4A}"/>
              </a:ext>
            </a:extLst>
          </p:cNvPr>
          <p:cNvSpPr/>
          <p:nvPr/>
        </p:nvSpPr>
        <p:spPr>
          <a:xfrm>
            <a:off x="8037107" y="2817839"/>
            <a:ext cx="1439953" cy="64795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kern="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20603050405020304" pitchFamily="18" charset="0"/>
                <a:ea typeface="宋体" panose="02010600030101010101" pitchFamily="2" charset="-122"/>
              </a:rPr>
              <a:t>show_q.py</a:t>
            </a:r>
            <a:endParaRPr lang="zh-CN" altLang="en-US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21386B7-6687-0482-A120-3AB3FAA6DBDC}"/>
              </a:ext>
            </a:extLst>
          </p:cNvPr>
          <p:cNvSpPr txBox="1"/>
          <p:nvPr/>
        </p:nvSpPr>
        <p:spPr>
          <a:xfrm>
            <a:off x="9541936" y="2743104"/>
            <a:ext cx="13034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300">
                <a:latin typeface="Arial"/>
              </a:rPr>
              <a:t>Check equilibrium generation</a:t>
            </a:r>
          </a:p>
        </p:txBody>
      </p:sp>
    </p:spTree>
    <p:extLst>
      <p:ext uri="{BB962C8B-B14F-4D97-AF65-F5344CB8AC3E}">
        <p14:creationId xmlns:p14="http://schemas.microsoft.com/office/powerpoint/2010/main" val="1241477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4884F58-91AB-3A5C-E8CD-BB974F395447}"/>
              </a:ext>
            </a:extLst>
          </p:cNvPr>
          <p:cNvSpPr txBox="1"/>
          <p:nvPr/>
        </p:nvSpPr>
        <p:spPr>
          <a:xfrm>
            <a:off x="30781" y="418341"/>
            <a:ext cx="3400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300">
                <a:latin typeface="Arial"/>
              </a:rPr>
              <a:t>Raw simulation data</a:t>
            </a:r>
          </a:p>
        </p:txBody>
      </p:sp>
      <p:sp>
        <p:nvSpPr>
          <p:cNvPr id="5" name="箭头: 下 4">
            <a:extLst>
              <a:ext uri="{FF2B5EF4-FFF2-40B4-BE49-F238E27FC236}">
                <a16:creationId xmlns:a16="http://schemas.microsoft.com/office/drawing/2014/main" id="{732B2960-6CFD-8B41-0B10-A45F5DCF400B}"/>
              </a:ext>
            </a:extLst>
          </p:cNvPr>
          <p:cNvSpPr/>
          <p:nvPr/>
        </p:nvSpPr>
        <p:spPr>
          <a:xfrm>
            <a:off x="501608" y="1023703"/>
            <a:ext cx="405727" cy="502616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EC36374-6837-1312-9AE3-0A10DA282A89}"/>
              </a:ext>
            </a:extLst>
          </p:cNvPr>
          <p:cNvSpPr txBox="1"/>
          <p:nvPr/>
        </p:nvSpPr>
        <p:spPr>
          <a:xfrm>
            <a:off x="907335" y="1061639"/>
            <a:ext cx="29077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latin typeface="Arial"/>
              </a:rPr>
              <a:t>Download to Windows PC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1970650-EE64-03D8-1C5F-9F21B5DBB21C}"/>
              </a:ext>
            </a:extLst>
          </p:cNvPr>
          <p:cNvSpPr/>
          <p:nvPr/>
        </p:nvSpPr>
        <p:spPr>
          <a:xfrm>
            <a:off x="624598" y="1642975"/>
            <a:ext cx="2289028" cy="64795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kern="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20603050405020304" pitchFamily="18" charset="0"/>
                <a:ea typeface="宋体" panose="02010600030101010101" pitchFamily="2" charset="-122"/>
              </a:rPr>
              <a:t>Result Sorting.py</a:t>
            </a:r>
            <a:endParaRPr lang="zh-CN" altLang="en-US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5A9376A-9F93-3011-A8A4-D7D2450D0A83}"/>
              </a:ext>
            </a:extLst>
          </p:cNvPr>
          <p:cNvSpPr/>
          <p:nvPr/>
        </p:nvSpPr>
        <p:spPr>
          <a:xfrm>
            <a:off x="352236" y="2980502"/>
            <a:ext cx="4046675" cy="118553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kern="1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20603050405020304" pitchFamily="18" charset="0"/>
                <a:ea typeface="宋体" panose="02010600030101010101" pitchFamily="2" charset="-122"/>
              </a:rPr>
              <a:t>contour_pt.m</a:t>
            </a:r>
            <a:r>
              <a:rPr lang="en-US" altLang="zh-CN" sz="1200" b="1" kern="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200" b="1" kern="1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20603050405020304" pitchFamily="18" charset="0"/>
                <a:ea typeface="宋体" panose="02010600030101010101" pitchFamily="2" charset="-122"/>
              </a:rPr>
              <a:t>paper_fft_gr_figure.m</a:t>
            </a:r>
            <a:r>
              <a:rPr lang="en-US" altLang="zh-CN" sz="1200" b="1" kern="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200" b="1" kern="1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20603050405020304" pitchFamily="18" charset="0"/>
                <a:ea typeface="宋体" panose="02010600030101010101" pitchFamily="2" charset="-122"/>
              </a:rPr>
              <a:t>plot_growth.m</a:t>
            </a:r>
            <a:r>
              <a:rPr lang="en-US" altLang="zh-CN" sz="1200" b="1" kern="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200" b="1" kern="1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20603050405020304" pitchFamily="18" charset="0"/>
                <a:ea typeface="宋体" panose="02010600030101010101" pitchFamily="2" charset="-122"/>
              </a:rPr>
              <a:t>plot_ke_fft.m</a:t>
            </a:r>
            <a:r>
              <a:rPr lang="en-US" altLang="zh-CN" sz="1200" b="1" kern="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20603050405020304" pitchFamily="18" charset="0"/>
                <a:ea typeface="宋体" panose="02010600030101010101" pitchFamily="2" charset="-122"/>
              </a:rPr>
              <a:t>, plot_x12d.m</a:t>
            </a:r>
            <a:endParaRPr lang="zh-CN" altLang="en-US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83A9358C-80AD-B01A-3617-D75B8970FF9D}"/>
              </a:ext>
            </a:extLst>
          </p:cNvPr>
          <p:cNvSpPr/>
          <p:nvPr/>
        </p:nvSpPr>
        <p:spPr>
          <a:xfrm>
            <a:off x="518009" y="2381838"/>
            <a:ext cx="405727" cy="502616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E97D14C-3607-9B34-5147-8AF15819955C}"/>
              </a:ext>
            </a:extLst>
          </p:cNvPr>
          <p:cNvSpPr txBox="1"/>
          <p:nvPr/>
        </p:nvSpPr>
        <p:spPr>
          <a:xfrm>
            <a:off x="907335" y="2465971"/>
            <a:ext cx="34751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latin typeface="Arial"/>
              </a:rPr>
              <a:t>Visualize data in MATLAB</a:t>
            </a:r>
          </a:p>
        </p:txBody>
      </p:sp>
      <p:sp>
        <p:nvSpPr>
          <p:cNvPr id="12" name="箭头: 下 11">
            <a:extLst>
              <a:ext uri="{FF2B5EF4-FFF2-40B4-BE49-F238E27FC236}">
                <a16:creationId xmlns:a16="http://schemas.microsoft.com/office/drawing/2014/main" id="{B3381B8C-AD52-67E5-7FA6-5280663B3D05}"/>
              </a:ext>
            </a:extLst>
          </p:cNvPr>
          <p:cNvSpPr/>
          <p:nvPr/>
        </p:nvSpPr>
        <p:spPr>
          <a:xfrm>
            <a:off x="1607559" y="4227750"/>
            <a:ext cx="405727" cy="502616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7DA9F69-D4EA-DDA5-6963-A7CAB8176E55}"/>
              </a:ext>
            </a:extLst>
          </p:cNvPr>
          <p:cNvSpPr txBox="1"/>
          <p:nvPr/>
        </p:nvSpPr>
        <p:spPr>
          <a:xfrm>
            <a:off x="140663" y="4747713"/>
            <a:ext cx="3475175" cy="742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>
                <a:latin typeface="Arial"/>
              </a:rPr>
              <a:t>Plot physical-quantity evolution</a:t>
            </a:r>
          </a:p>
          <a:p>
            <a:pPr/>
            <a:r>
              <a:rPr sz="1150">
                <a:latin typeface="Arial"/>
              </a:rPr>
              <a:t>Inspect each case qualitatively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48BC583-CAF8-37AF-87D6-DE0A0038E4AE}"/>
              </a:ext>
            </a:extLst>
          </p:cNvPr>
          <p:cNvSpPr/>
          <p:nvPr/>
        </p:nvSpPr>
        <p:spPr>
          <a:xfrm>
            <a:off x="4356263" y="425873"/>
            <a:ext cx="4343367" cy="12416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1200" b="1" kern="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20603050405020304" pitchFamily="18" charset="0"/>
                <a:ea typeface="宋体" panose="02010600030101010101" pitchFamily="2" charset="-122"/>
              </a:rPr>
              <a:t>data_extract-2.py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kern="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20603050405020304" pitchFamily="18" charset="0"/>
                <a:ea typeface="宋体" panose="02010600030101010101" pitchFamily="2" charset="-122"/>
              </a:rPr>
              <a:t>pressure_crush_extract-2.py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kern="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20603050405020304" pitchFamily="18" charset="0"/>
                <a:ea typeface="宋体" panose="02010600030101010101" pitchFamily="2" charset="-122"/>
              </a:rPr>
              <a:t> compare_plot.py</a:t>
            </a:r>
            <a:endParaRPr lang="zh-CN" altLang="en-US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9F9D1A05-A1D8-7B49-43C9-2C965FC04411}"/>
              </a:ext>
            </a:extLst>
          </p:cNvPr>
          <p:cNvSpPr/>
          <p:nvPr/>
        </p:nvSpPr>
        <p:spPr>
          <a:xfrm rot="14265612">
            <a:off x="3412975" y="993371"/>
            <a:ext cx="405727" cy="1404530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下 15">
            <a:extLst>
              <a:ext uri="{FF2B5EF4-FFF2-40B4-BE49-F238E27FC236}">
                <a16:creationId xmlns:a16="http://schemas.microsoft.com/office/drawing/2014/main" id="{84E3368D-0292-9D80-433A-B2E7FE99932D}"/>
              </a:ext>
            </a:extLst>
          </p:cNvPr>
          <p:cNvSpPr/>
          <p:nvPr/>
        </p:nvSpPr>
        <p:spPr>
          <a:xfrm>
            <a:off x="5616647" y="1809454"/>
            <a:ext cx="405727" cy="502616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D75C836-A79F-CCAC-A246-EEAB78505FA7}"/>
              </a:ext>
            </a:extLst>
          </p:cNvPr>
          <p:cNvSpPr txBox="1"/>
          <p:nvPr/>
        </p:nvSpPr>
        <p:spPr>
          <a:xfrm>
            <a:off x="8919470" y="408816"/>
            <a:ext cx="2980430" cy="1296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>
                <a:latin typeface="Arial"/>
              </a:rPr>
              <a:t>Identify all cases</a:t>
            </a:r>
          </a:p>
          <a:p>
            <a:pPr/>
            <a:r>
              <a:rPr sz="1150">
                <a:latin typeface="Arial"/>
              </a:rPr>
              <a:t>Extract required data files</a:t>
            </a:r>
          </a:p>
        </p:txBody>
      </p:sp>
      <p:sp>
        <p:nvSpPr>
          <p:cNvPr id="19" name="箭头: 下 18">
            <a:extLst>
              <a:ext uri="{FF2B5EF4-FFF2-40B4-BE49-F238E27FC236}">
                <a16:creationId xmlns:a16="http://schemas.microsoft.com/office/drawing/2014/main" id="{94744C90-9945-C1DA-8AA8-264428C70F43}"/>
              </a:ext>
            </a:extLst>
          </p:cNvPr>
          <p:cNvSpPr/>
          <p:nvPr/>
        </p:nvSpPr>
        <p:spPr>
          <a:xfrm>
            <a:off x="7961874" y="1809454"/>
            <a:ext cx="405727" cy="502616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下 19">
            <a:extLst>
              <a:ext uri="{FF2B5EF4-FFF2-40B4-BE49-F238E27FC236}">
                <a16:creationId xmlns:a16="http://schemas.microsoft.com/office/drawing/2014/main" id="{DAEC296A-D569-00C0-EF33-2FFFFC70BF5C}"/>
              </a:ext>
            </a:extLst>
          </p:cNvPr>
          <p:cNvSpPr/>
          <p:nvPr/>
        </p:nvSpPr>
        <p:spPr>
          <a:xfrm>
            <a:off x="10332418" y="1797359"/>
            <a:ext cx="405727" cy="502616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FF31F79-8070-4FD5-0D00-9E615A468D96}"/>
              </a:ext>
            </a:extLst>
          </p:cNvPr>
          <p:cNvSpPr txBox="1"/>
          <p:nvPr/>
        </p:nvSpPr>
        <p:spPr>
          <a:xfrm>
            <a:off x="9284289" y="2315118"/>
            <a:ext cx="29077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>
                <a:latin typeface="Arial"/>
              </a:rPr>
              <a:t>Run parameters</a:t>
            </a:r>
          </a:p>
          <a:p>
            <a:pPr/>
            <a:r>
              <a:rPr sz="1150">
                <a:latin typeface="Arial"/>
              </a:rPr>
              <a:t>Equilibrium parameters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81CFDB5-D347-0E14-C085-ECF3AAEF13A8}"/>
              </a:ext>
            </a:extLst>
          </p:cNvPr>
          <p:cNvSpPr txBox="1"/>
          <p:nvPr/>
        </p:nvSpPr>
        <p:spPr>
          <a:xfrm>
            <a:off x="6737999" y="2395473"/>
            <a:ext cx="25660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latin typeface="Arial"/>
              </a:rPr>
              <a:t>Extract scalar physical quantities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A7EF315-4531-804C-ED20-12950E972B38}"/>
              </a:ext>
            </a:extLst>
          </p:cNvPr>
          <p:cNvSpPr txBox="1"/>
          <p:nvPr/>
        </p:nvSpPr>
        <p:spPr>
          <a:xfrm>
            <a:off x="4539663" y="2454045"/>
            <a:ext cx="25660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latin typeface="Arial"/>
              </a:rPr>
              <a:t>2D perturbation fields</a:t>
            </a:r>
          </a:p>
        </p:txBody>
      </p:sp>
      <p:sp>
        <p:nvSpPr>
          <p:cNvPr id="24" name="左大括号 23">
            <a:extLst>
              <a:ext uri="{FF2B5EF4-FFF2-40B4-BE49-F238E27FC236}">
                <a16:creationId xmlns:a16="http://schemas.microsoft.com/office/drawing/2014/main" id="{CBD2B33B-6C2F-7D63-7932-1601F3E5B122}"/>
              </a:ext>
            </a:extLst>
          </p:cNvPr>
          <p:cNvSpPr/>
          <p:nvPr/>
        </p:nvSpPr>
        <p:spPr>
          <a:xfrm rot="16200000">
            <a:off x="8146384" y="-529640"/>
            <a:ext cx="502616" cy="7333883"/>
          </a:xfrm>
          <a:prstGeom prst="leftBrace">
            <a:avLst>
              <a:gd name="adj1" fmla="val 8333"/>
              <a:gd name="adj2" fmla="val 45844"/>
            </a:avLst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B556104-0800-35AE-0E4F-33AD0EB746FD}"/>
              </a:ext>
            </a:extLst>
          </p:cNvPr>
          <p:cNvSpPr txBox="1"/>
          <p:nvPr/>
        </p:nvSpPr>
        <p:spPr>
          <a:xfrm>
            <a:off x="5036719" y="3379965"/>
            <a:ext cx="25097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latin typeface="Arial"/>
              </a:rPr>
              <a:t>Store scalars in one table; save one 2D table per case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BB18798-8808-382A-5F7B-5FC0058BDC02}"/>
              </a:ext>
            </a:extLst>
          </p:cNvPr>
          <p:cNvSpPr txBox="1"/>
          <p:nvPr/>
        </p:nvSpPr>
        <p:spPr>
          <a:xfrm>
            <a:off x="7471539" y="3518464"/>
            <a:ext cx="2158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latin typeface="Arial"/>
              </a:rPr>
              <a:t>Generate visual QC plots for each case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533B74D-FAC8-6538-E2FF-256E109597AC}"/>
              </a:ext>
            </a:extLst>
          </p:cNvPr>
          <p:cNvSpPr txBox="1"/>
          <p:nvPr/>
        </p:nvSpPr>
        <p:spPr>
          <a:xfrm>
            <a:off x="9668907" y="3581419"/>
            <a:ext cx="2158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latin typeface="Arial"/>
              </a:rPr>
              <a:t>Standardize names and split datasets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641934F9-308B-B937-74D3-C38B77AD39BF}"/>
              </a:ext>
            </a:extLst>
          </p:cNvPr>
          <p:cNvSpPr/>
          <p:nvPr/>
        </p:nvSpPr>
        <p:spPr>
          <a:xfrm>
            <a:off x="3800586" y="4437070"/>
            <a:ext cx="2163041" cy="64795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kern="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20603050405020304" pitchFamily="18" charset="0"/>
                <a:ea typeface="宋体" panose="02010600030101010101" pitchFamily="2" charset="-122"/>
              </a:rPr>
              <a:t>2Dfield_select-2.py</a:t>
            </a:r>
            <a:endParaRPr lang="zh-CN" altLang="en-US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箭头: 下 30">
            <a:extLst>
              <a:ext uri="{FF2B5EF4-FFF2-40B4-BE49-F238E27FC236}">
                <a16:creationId xmlns:a16="http://schemas.microsoft.com/office/drawing/2014/main" id="{EB1D9F88-8309-0440-76FE-4C85A97F1099}"/>
              </a:ext>
            </a:extLst>
          </p:cNvPr>
          <p:cNvSpPr/>
          <p:nvPr/>
        </p:nvSpPr>
        <p:spPr>
          <a:xfrm rot="1188463">
            <a:off x="4790139" y="2816870"/>
            <a:ext cx="405727" cy="1512799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B080656F-8BA2-0810-D1D6-55EABFC4C5D4}"/>
              </a:ext>
            </a:extLst>
          </p:cNvPr>
          <p:cNvSpPr/>
          <p:nvPr/>
        </p:nvSpPr>
        <p:spPr>
          <a:xfrm>
            <a:off x="9734856" y="4443121"/>
            <a:ext cx="1495970" cy="64795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kern="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20603050405020304" pitchFamily="18" charset="0"/>
                <a:ea typeface="宋体" panose="02010600030101010101" pitchFamily="2" charset="-122"/>
              </a:rPr>
              <a:t>check_select_filed-1.py</a:t>
            </a:r>
            <a:endParaRPr lang="zh-CN" altLang="en-US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3" name="箭头: 下 32">
            <a:extLst>
              <a:ext uri="{FF2B5EF4-FFF2-40B4-BE49-F238E27FC236}">
                <a16:creationId xmlns:a16="http://schemas.microsoft.com/office/drawing/2014/main" id="{38B05A16-5470-DBAF-E231-CB043DB69E64}"/>
              </a:ext>
            </a:extLst>
          </p:cNvPr>
          <p:cNvSpPr/>
          <p:nvPr/>
        </p:nvSpPr>
        <p:spPr>
          <a:xfrm>
            <a:off x="4196047" y="5186271"/>
            <a:ext cx="405727" cy="502616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FD1BE96-A479-8FCC-A468-2C3997C3CE86}"/>
              </a:ext>
            </a:extLst>
          </p:cNvPr>
          <p:cNvSpPr txBox="1"/>
          <p:nvPr/>
        </p:nvSpPr>
        <p:spPr>
          <a:xfrm>
            <a:off x="3267639" y="5748859"/>
            <a:ext cx="2262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latin typeface="Arial"/>
              </a:rPr>
              <a:t>Compute gradients and mean absolute values</a:t>
            </a:r>
          </a:p>
        </p:txBody>
      </p:sp>
      <p:sp>
        <p:nvSpPr>
          <p:cNvPr id="35" name="箭头: 下 34">
            <a:extLst>
              <a:ext uri="{FF2B5EF4-FFF2-40B4-BE49-F238E27FC236}">
                <a16:creationId xmlns:a16="http://schemas.microsoft.com/office/drawing/2014/main" id="{FE45227D-93EB-75A0-394B-F2F873A77BBA}"/>
              </a:ext>
            </a:extLst>
          </p:cNvPr>
          <p:cNvSpPr/>
          <p:nvPr/>
        </p:nvSpPr>
        <p:spPr>
          <a:xfrm rot="16200000">
            <a:off x="5578626" y="5868543"/>
            <a:ext cx="405727" cy="502616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0A3558F-C865-2E59-8406-1FF4F1BE51B2}"/>
              </a:ext>
            </a:extLst>
          </p:cNvPr>
          <p:cNvSpPr txBox="1"/>
          <p:nvPr/>
        </p:nvSpPr>
        <p:spPr>
          <a:xfrm>
            <a:off x="6159204" y="5688887"/>
            <a:ext cx="25097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>
                <a:latin typeface="Arial"/>
              </a:rPr>
              <a:t>Mask high-value/high-gradient regions; stratified random sampling</a:t>
            </a:r>
          </a:p>
        </p:txBody>
      </p:sp>
      <p:sp>
        <p:nvSpPr>
          <p:cNvPr id="37" name="箭头: 下 36">
            <a:extLst>
              <a:ext uri="{FF2B5EF4-FFF2-40B4-BE49-F238E27FC236}">
                <a16:creationId xmlns:a16="http://schemas.microsoft.com/office/drawing/2014/main" id="{22A68090-B489-DCFA-6286-B053EE4947C3}"/>
              </a:ext>
            </a:extLst>
          </p:cNvPr>
          <p:cNvSpPr/>
          <p:nvPr/>
        </p:nvSpPr>
        <p:spPr>
          <a:xfrm rot="16200000">
            <a:off x="8956192" y="5941019"/>
            <a:ext cx="405727" cy="502616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05545F3-1396-D1E4-1390-6E863EF65552}"/>
              </a:ext>
            </a:extLst>
          </p:cNvPr>
          <p:cNvSpPr txBox="1"/>
          <p:nvPr/>
        </p:nvSpPr>
        <p:spPr>
          <a:xfrm>
            <a:off x="9489526" y="5869161"/>
            <a:ext cx="22770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latin typeface="Arial"/>
              </a:rPr>
              <a:t>Sampled 2D field dataset</a:t>
            </a:r>
          </a:p>
        </p:txBody>
      </p:sp>
      <p:sp>
        <p:nvSpPr>
          <p:cNvPr id="39" name="箭头: 下 38">
            <a:extLst>
              <a:ext uri="{FF2B5EF4-FFF2-40B4-BE49-F238E27FC236}">
                <a16:creationId xmlns:a16="http://schemas.microsoft.com/office/drawing/2014/main" id="{38BEBAC6-5742-804B-F466-1FD442B73D85}"/>
              </a:ext>
            </a:extLst>
          </p:cNvPr>
          <p:cNvSpPr/>
          <p:nvPr/>
        </p:nvSpPr>
        <p:spPr>
          <a:xfrm rot="10800000">
            <a:off x="10413202" y="5162021"/>
            <a:ext cx="405727" cy="502616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A49F7B1-666A-603D-299D-E040140EE2B1}"/>
              </a:ext>
            </a:extLst>
          </p:cNvPr>
          <p:cNvSpPr txBox="1"/>
          <p:nvPr/>
        </p:nvSpPr>
        <p:spPr>
          <a:xfrm>
            <a:off x="7419405" y="4634424"/>
            <a:ext cx="2262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latin typeface="Arial"/>
              </a:rPr>
              <a:t>Plot sampling QC</a:t>
            </a:r>
          </a:p>
        </p:txBody>
      </p:sp>
    </p:spTree>
    <p:extLst>
      <p:ext uri="{BB962C8B-B14F-4D97-AF65-F5344CB8AC3E}">
        <p14:creationId xmlns:p14="http://schemas.microsoft.com/office/powerpoint/2010/main" val="4110201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4BFDB59-1454-D7DE-5042-800FB215748C}"/>
              </a:ext>
            </a:extLst>
          </p:cNvPr>
          <p:cNvSpPr txBox="1"/>
          <p:nvPr/>
        </p:nvSpPr>
        <p:spPr>
          <a:xfrm>
            <a:off x="624926" y="293861"/>
            <a:ext cx="2277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latin typeface="Arial"/>
              </a:rPr>
              <a:t>Training dataset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FF4976D-14C6-CD7B-F62F-A6A4DBA5D6A5}"/>
              </a:ext>
            </a:extLst>
          </p:cNvPr>
          <p:cNvSpPr/>
          <p:nvPr/>
        </p:nvSpPr>
        <p:spPr>
          <a:xfrm>
            <a:off x="675286" y="1267487"/>
            <a:ext cx="2289028" cy="647953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/>
            <a:r>
              <a:rPr sz="1300">
                <a:latin typeface="Arial"/>
              </a:rPr>
              <a:t>Train ensemble surrogate models</a:t>
            </a:r>
          </a:p>
        </p:txBody>
      </p:sp>
      <p:sp>
        <p:nvSpPr>
          <p:cNvPr id="6" name="箭头: 下 5">
            <a:extLst>
              <a:ext uri="{FF2B5EF4-FFF2-40B4-BE49-F238E27FC236}">
                <a16:creationId xmlns:a16="http://schemas.microsoft.com/office/drawing/2014/main" id="{3FB39A99-AB9B-7FB3-9B80-889E83AC4144}"/>
              </a:ext>
            </a:extLst>
          </p:cNvPr>
          <p:cNvSpPr/>
          <p:nvPr/>
        </p:nvSpPr>
        <p:spPr>
          <a:xfrm>
            <a:off x="912874" y="679730"/>
            <a:ext cx="405727" cy="502616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7542AC7A-D4DC-5035-9192-AEB4F8074A0B}"/>
              </a:ext>
            </a:extLst>
          </p:cNvPr>
          <p:cNvSpPr/>
          <p:nvPr/>
        </p:nvSpPr>
        <p:spPr>
          <a:xfrm>
            <a:off x="1560574" y="2017118"/>
            <a:ext cx="405727" cy="502616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下 7">
            <a:extLst>
              <a:ext uri="{FF2B5EF4-FFF2-40B4-BE49-F238E27FC236}">
                <a16:creationId xmlns:a16="http://schemas.microsoft.com/office/drawing/2014/main" id="{1B9E7BAB-1A31-020F-D715-66E463EA801D}"/>
              </a:ext>
            </a:extLst>
          </p:cNvPr>
          <p:cNvSpPr/>
          <p:nvPr/>
        </p:nvSpPr>
        <p:spPr>
          <a:xfrm rot="16200000">
            <a:off x="2761451" y="209022"/>
            <a:ext cx="405727" cy="502616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F8594EB-7EBA-1C77-7768-5BD773797674}"/>
              </a:ext>
            </a:extLst>
          </p:cNvPr>
          <p:cNvSpPr/>
          <p:nvPr/>
        </p:nvSpPr>
        <p:spPr>
          <a:xfrm>
            <a:off x="3475748" y="154550"/>
            <a:ext cx="2289028" cy="64795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kern="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20603050405020304" pitchFamily="18" charset="0"/>
                <a:ea typeface="宋体" panose="02010600030101010101" pitchFamily="2" charset="-122"/>
              </a:rPr>
              <a:t>correlation analysis-1.1.py</a:t>
            </a:r>
            <a:endParaRPr lang="zh-CN" altLang="en-US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7E219977-12B7-35B2-63B2-E3308087A329}"/>
              </a:ext>
            </a:extLst>
          </p:cNvPr>
          <p:cNvSpPr/>
          <p:nvPr/>
        </p:nvSpPr>
        <p:spPr>
          <a:xfrm rot="16200000">
            <a:off x="6144445" y="273611"/>
            <a:ext cx="405727" cy="502616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C4D7611-348C-27AC-DA4C-E5856B5480D5}"/>
              </a:ext>
            </a:extLst>
          </p:cNvPr>
          <p:cNvSpPr txBox="1"/>
          <p:nvPr/>
        </p:nvSpPr>
        <p:spPr>
          <a:xfrm>
            <a:off x="6685835" y="322055"/>
            <a:ext cx="30868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latin typeface="Arial"/>
              </a:rPr>
              <a:t>Correlation tests, heatmaps, and variable importance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75EAB0D-D151-F782-F314-20B2145D4A4E}"/>
              </a:ext>
            </a:extLst>
          </p:cNvPr>
          <p:cNvSpPr txBox="1"/>
          <p:nvPr/>
        </p:nvSpPr>
        <p:spPr>
          <a:xfrm>
            <a:off x="624925" y="2519734"/>
            <a:ext cx="2277024" cy="881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0">
                <a:latin typeface="Arial"/>
              </a:rPr>
              <a:t>Trained models</a:t>
            </a:r>
          </a:p>
          <a:p>
            <a:pPr/>
            <a:r>
              <a:rPr sz="1150">
                <a:latin typeface="Arial"/>
              </a:rPr>
              <a:t>Test dataset</a:t>
            </a:r>
          </a:p>
        </p:txBody>
      </p:sp>
      <p:sp>
        <p:nvSpPr>
          <p:cNvPr id="14" name="箭头: 下 13">
            <a:extLst>
              <a:ext uri="{FF2B5EF4-FFF2-40B4-BE49-F238E27FC236}">
                <a16:creationId xmlns:a16="http://schemas.microsoft.com/office/drawing/2014/main" id="{9DF5325B-7840-169E-AE87-B675B902CC50}"/>
              </a:ext>
            </a:extLst>
          </p:cNvPr>
          <p:cNvSpPr/>
          <p:nvPr/>
        </p:nvSpPr>
        <p:spPr>
          <a:xfrm>
            <a:off x="1616936" y="3488237"/>
            <a:ext cx="405727" cy="502616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59648EB-B802-44D4-E6D3-0D13DFC84CFB}"/>
              </a:ext>
            </a:extLst>
          </p:cNvPr>
          <p:cNvSpPr/>
          <p:nvPr/>
        </p:nvSpPr>
        <p:spPr>
          <a:xfrm>
            <a:off x="675287" y="4117975"/>
            <a:ext cx="2289027" cy="64795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kern="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20603050405020304" pitchFamily="18" charset="0"/>
                <a:ea typeface="宋体" panose="02010600030101010101" pitchFamily="2" charset="-122"/>
              </a:rPr>
              <a:t>classification-2.2.py</a:t>
            </a:r>
            <a:endParaRPr lang="zh-CN" altLang="en-US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5815D8-465A-82D8-B345-ABB9C0457334}"/>
              </a:ext>
            </a:extLst>
          </p:cNvPr>
          <p:cNvSpPr txBox="1"/>
          <p:nvPr/>
        </p:nvSpPr>
        <p:spPr>
          <a:xfrm>
            <a:off x="1227288" y="780673"/>
            <a:ext cx="29077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latin typeface="Arial"/>
              </a:rPr>
              <a:t>Use PC GPU and CPU</a:t>
            </a:r>
          </a:p>
        </p:txBody>
      </p:sp>
      <p:sp>
        <p:nvSpPr>
          <p:cNvPr id="18" name="箭头: 下 17">
            <a:extLst>
              <a:ext uri="{FF2B5EF4-FFF2-40B4-BE49-F238E27FC236}">
                <a16:creationId xmlns:a16="http://schemas.microsoft.com/office/drawing/2014/main" id="{492CFB79-FC5E-C624-882E-3EAFF22FB1D6}"/>
              </a:ext>
            </a:extLst>
          </p:cNvPr>
          <p:cNvSpPr/>
          <p:nvPr/>
        </p:nvSpPr>
        <p:spPr>
          <a:xfrm rot="16200000">
            <a:off x="2846286" y="2655358"/>
            <a:ext cx="405727" cy="502616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9451D52-60DB-7F4A-B7B3-DFD90EBB3657}"/>
              </a:ext>
            </a:extLst>
          </p:cNvPr>
          <p:cNvSpPr/>
          <p:nvPr/>
        </p:nvSpPr>
        <p:spPr>
          <a:xfrm>
            <a:off x="3461688" y="2519734"/>
            <a:ext cx="2289027" cy="64795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kern="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20603050405020304" pitchFamily="18" charset="0"/>
                <a:ea typeface="宋体" panose="02010600030101010101" pitchFamily="2" charset="-122"/>
              </a:rPr>
              <a:t>TMO_predict-3.2.py</a:t>
            </a:r>
            <a:endParaRPr lang="zh-CN" altLang="en-US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左大括号 20">
            <a:extLst>
              <a:ext uri="{FF2B5EF4-FFF2-40B4-BE49-F238E27FC236}">
                <a16:creationId xmlns:a16="http://schemas.microsoft.com/office/drawing/2014/main" id="{23C15CD7-07A4-E726-2830-1993914A8121}"/>
              </a:ext>
            </a:extLst>
          </p:cNvPr>
          <p:cNvSpPr/>
          <p:nvPr/>
        </p:nvSpPr>
        <p:spPr>
          <a:xfrm>
            <a:off x="3179821" y="3429000"/>
            <a:ext cx="502616" cy="1377950"/>
          </a:xfrm>
          <a:prstGeom prst="leftBrace">
            <a:avLst>
              <a:gd name="adj1" fmla="val 8333"/>
              <a:gd name="adj2" fmla="val 71190"/>
            </a:avLst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左大括号 22">
            <a:extLst>
              <a:ext uri="{FF2B5EF4-FFF2-40B4-BE49-F238E27FC236}">
                <a16:creationId xmlns:a16="http://schemas.microsoft.com/office/drawing/2014/main" id="{27E7D980-B23E-9E1E-147B-0FB645E635BC}"/>
              </a:ext>
            </a:extLst>
          </p:cNvPr>
          <p:cNvSpPr/>
          <p:nvPr/>
        </p:nvSpPr>
        <p:spPr>
          <a:xfrm>
            <a:off x="5938671" y="1182346"/>
            <a:ext cx="502616" cy="2075204"/>
          </a:xfrm>
          <a:prstGeom prst="leftBrace">
            <a:avLst>
              <a:gd name="adj1" fmla="val 8333"/>
              <a:gd name="adj2" fmla="val 79976"/>
            </a:avLst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91C5C82-57BD-4096-BD98-31776B9180C2}"/>
              </a:ext>
            </a:extLst>
          </p:cNvPr>
          <p:cNvSpPr txBox="1"/>
          <p:nvPr/>
        </p:nvSpPr>
        <p:spPr>
          <a:xfrm>
            <a:off x="3547248" y="3448004"/>
            <a:ext cx="7279502" cy="1296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050">
                <a:latin typeface="Arial"/>
              </a:rPr>
              <a:t>Predict and plot target values in parameter space</a:t>
            </a:r>
          </a:p>
          <a:p>
            <a:pPr/>
            <a:r>
              <a:rPr sz="1050">
                <a:latin typeface="Arial"/>
              </a:rPr>
              <a:t>Create 3D parameter-space scan animations</a:t>
            </a:r>
          </a:p>
          <a:p>
            <a:pPr/>
            <a:r>
              <a:rPr sz="1050">
                <a:latin typeface="Arial"/>
              </a:rPr>
              <a:t>Plot 3D class-boundary schematics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9CCC85D-C32B-EDA8-F9F3-D4EA8A6EE39B}"/>
              </a:ext>
            </a:extLst>
          </p:cNvPr>
          <p:cNvSpPr txBox="1"/>
          <p:nvPr/>
        </p:nvSpPr>
        <p:spPr>
          <a:xfrm>
            <a:off x="6261133" y="1382335"/>
            <a:ext cx="5684074" cy="1712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050">
                <a:latin typeface="Arial"/>
              </a:rPr>
              <a:t>Load 2D reconstruction models, test initial conditions, and grids</a:t>
            </a:r>
          </a:p>
          <a:p>
            <a:pPr/>
            <a:r>
              <a:rPr sz="1050">
                <a:latin typeface="Arial"/>
              </a:rPr>
              <a:t>Run batch inference and plot four single-case QC figures</a:t>
            </a:r>
          </a:p>
          <a:p>
            <a:pPr/>
            <a:r>
              <a:rPr sz="1050">
                <a:latin typeface="Arial"/>
              </a:rPr>
              <a:t>Summarize test metrics; plot density, PSNR, and SSIM</a:t>
            </a:r>
          </a:p>
        </p:txBody>
      </p:sp>
    </p:spTree>
    <p:extLst>
      <p:ext uri="{BB962C8B-B14F-4D97-AF65-F5344CB8AC3E}">
        <p14:creationId xmlns:p14="http://schemas.microsoft.com/office/powerpoint/2010/main" val="2683445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459</Words>
  <Application>Microsoft Office PowerPoint</Application>
  <PresentationFormat>宽屏</PresentationFormat>
  <Paragraphs>63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彧均 许</dc:creator>
  <cp:lastModifiedBy>彧均 许</cp:lastModifiedBy>
  <cp:revision>7</cp:revision>
  <dcterms:created xsi:type="dcterms:W3CDTF">2026-03-19T02:46:11Z</dcterms:created>
  <dcterms:modified xsi:type="dcterms:W3CDTF">2026-07-12T11:01:22Z</dcterms:modified>
</cp:coreProperties>
</file>